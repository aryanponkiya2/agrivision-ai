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24835" y="559146"/>
            <a:ext cx="405765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000" y="541449"/>
            <a:ext cx="1142999" cy="1142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" y="6203567"/>
            <a:ext cx="12191996" cy="65443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" y="-2"/>
            <a:ext cx="12191995" cy="5595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82782" y="644040"/>
            <a:ext cx="8626434" cy="8223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4813" rIns="0" bIns="0" rtlCol="0">
            <a:spAutoFit/>
          </a:bodyPr>
          <a:lstStyle/>
          <a:p>
            <a:pPr marL="354139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Title</a:t>
            </a:r>
            <a:r>
              <a:rPr sz="20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0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Project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00000"/>
                </a:solidFill>
                <a:latin typeface="Calibri"/>
              </a:defRPr>
            </a:pPr>
            <a:r>
              <a:rPr sz="3600" dirty="0" err="1"/>
              <a:t>AgriVision</a:t>
            </a:r>
            <a:r>
              <a:rPr sz="3600" dirty="0"/>
              <a:t> AI</a:t>
            </a:r>
          </a:p>
          <a:p>
            <a:pPr>
              <a:spcAft>
                <a:spcPts val="2000"/>
              </a:spcAft>
              <a:defRPr sz="1800" i="1">
                <a:solidFill>
                  <a:srgbClr val="282828"/>
                </a:solidFill>
                <a:latin typeface="Calibri"/>
              </a:defRPr>
            </a:pPr>
            <a:r>
              <a:rPr sz="2000" dirty="0"/>
              <a:t>Advanced Plant Disease Detection &amp; Agricultural Market Intelligence Portal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Project Domain: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Artificial Intelligence, Deep Learning Pathology &amp; Web Market Intelligence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Submitted By: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Aryan 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Ponkiya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 &amp; Kausar Rami (Candidate Name / Enrollment No)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Under Guidance Of: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College Project Guide &amp; Faculty Members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Department &amp; Institution: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MCA Department, Acharya 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Motibhai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 Patel Institute of Computer Studies (AMPICS)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University: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Ganpat University, Ganpat Vidyanagar – 384012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Batch &amp; Academic Year: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MCA Sem-3 (2024–2026 Batch) | Academic Session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1.1</a:t>
            </a:r>
            <a:r>
              <a:rPr spc="-125" dirty="0"/>
              <a:t> </a:t>
            </a:r>
            <a:r>
              <a:rPr dirty="0"/>
              <a:t>Project</a:t>
            </a:r>
            <a:r>
              <a:rPr spc="-125" dirty="0"/>
              <a:t> </a:t>
            </a:r>
            <a:r>
              <a:rPr spc="-10" dirty="0"/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56045"/>
            <a:ext cx="10698480" cy="401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Project Title &amp; Nomenclature: 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AgriVision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 AI – Full-Stack Agricultural Decision Support Platform.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Core Objective: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Empower farmers and agricultural experts with real-time AI pathology diagnostics and transparent mandi prices.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Primary Tech Stack: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Python 3.10+, Flask 3.1.1 Micro-framework, Vanilla HTML5/CSS3, JavaScript (ES6+), SVG Mapping.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AI Diagnostic Engine: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Cloud-integrated Plant.id API v3 identifying 38+ plant &amp; fruit health conditions across 14 crop species in 2–5s.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Market Intelligence Engine: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Live APMC commodity price integration (data.gov.in API) with MD5 deterministic fallback generator.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Geospatial Dashboard: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Custom interactive SVG maps of India providing state-wise crop profiles, sowing calendars &amp; export shares.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System Architecture: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Modular client-server architecture with REST API endpoints, Base64 image payload encoding &amp; JSON handlers.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Target Audience: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Smallholder farmers, agricultural extension officers, plant pathologists, commercial growers &amp; crop traders.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8625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1.2</a:t>
            </a:r>
            <a:r>
              <a:rPr spc="-75" dirty="0"/>
              <a:t> </a:t>
            </a:r>
            <a:r>
              <a:rPr dirty="0"/>
              <a:t>About</a:t>
            </a:r>
            <a:r>
              <a:rPr spc="-75" dirty="0"/>
              <a:t> </a:t>
            </a:r>
            <a:r>
              <a:rPr spc="-20" dirty="0"/>
              <a:t>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85109"/>
            <a:ext cx="10698480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Parent Institution: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Acharya 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Motibhai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 Patel Institute of Computer Studies (AMPICS).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University Affiliation: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Ganpat University, Ganpat Vidyanagar, Mehsana, Gujarat – 384012.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Academic Program: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Master of Computer Applications (MCA) – 2 Year Professional Post-Graduate Degree.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Course Code &amp; Name: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P13A6SDP1 System Development Project - I (Semester III).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Departmental Vision: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Imparting advanced technical education in computer science, software engineering, AI/ML, and web applications.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Project Development Mandate: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Build production-ready, socially impactful software solutions addressing real-world agricultural &amp; economic challenges.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Key Academic Supervision: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Guided by MCA Project Coordinator Prof. C. D. Patel and Principal Dr. Nirbhay Chaubey.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Research Alignment: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Bridging academic computer science research with practical agrarian technology and web engineering.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6085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2.1</a:t>
            </a:r>
            <a:r>
              <a:rPr spc="-105" dirty="0"/>
              <a:t> </a:t>
            </a:r>
            <a:r>
              <a:rPr spc="-10" dirty="0"/>
              <a:t>Problem</a:t>
            </a:r>
            <a:r>
              <a:rPr spc="-10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88616"/>
            <a:ext cx="106984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Rapid Disease Contagion: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Fungal and bacterial pathogens (e.g. Late Blight, Rusts, Mildews) destroy entire fields in under 5 to 7 days.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Severe Expert Deficit: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Severe shortage of certified plant pathologists and government extension officers across rural agricultural districts.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Diagnostic Latency: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Traditional field visits take 1 to 2 weeks, rendering late diagnostic advice ineffective for saving standing crops.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Mandi Price Exploitation: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Smallholder farmers lack real-time APMC mandi prices, forcing them to sell crops at heavy losses to local middlemen.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Indiscriminate Pesticide Use: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Lack of exact pathogen identification leads farmers to apply broad-spectrum chemical sprays, harming soil ecology.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Information Fragmentation: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Farmers must consult multiple disconnected sources for weather warnings, crop sowing cycles, and export demand.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Economic Loss: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Crop losses and price manipulation cost the agricultural sector billions of rupees annually, affecting food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154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2.2</a:t>
            </a:r>
            <a:r>
              <a:rPr spc="-120" dirty="0"/>
              <a:t> </a:t>
            </a:r>
            <a:r>
              <a:rPr dirty="0"/>
              <a:t>Existing</a:t>
            </a:r>
            <a:r>
              <a:rPr spc="-1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17680"/>
            <a:ext cx="106984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Manual Field Inspection: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Farmers physically request visits from district agricultural officers to examine infected plant leaves.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Verbal Mandi Inquiries: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Crop prices are gathered verbally from local commission agents or regional markets without verification.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Trial-and-Error Treatment: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Pesticide selections rely on guesswork, neighbor recommendations, or retail shopkeeper advice.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Paper Pamphlets &amp; Manuals: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Government advisories and crop guides are distributed via printed booklets, which rarely reach remote areas.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Physical Distance Barriers: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Farmers must travel long distances to agricultural universities or labs for soil and plant testing.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No Real-Time Monitoring: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Existing agricultural support systems lack digital portals for real-time risk assessment or weather mapping.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Absence of Export Guidance: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Traditional systems provide zero visibility into international trade demand or export crop selection.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618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2.2.1</a:t>
            </a:r>
            <a:r>
              <a:rPr spc="-25" dirty="0"/>
              <a:t> Drawbacks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00059"/>
            <a:ext cx="1069848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Extreme Diagnostic Lag: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7 to 14 days delay between symptom onset and expert diagnosis leads to total crop failure.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High Price Asymmetry: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Middlemen exploit lack of transparent APMC mandi price data, buying produce at heavily discounted rates.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Environmental &amp; Soil Damage: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Misidentification leads to excessive chemical fertilizer/pesticide spraying, killing beneficial soil micro-organisms.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Zero Scalability: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Manual officer visits cannot scale to support millions of smallholder farming families across rural India.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Increased Input Costs: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Wasted expenditure on wrong chemical treatments inflates overall farming input costs while yields decline.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Loss of High-Value Trade: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Lack of export trade awareness keeps farmers locked in low-margin subsistence crops rather than high-value exports.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Uncoordinated Risk Response: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Unable to anticipate weather-induced fungal outbreaks due to absence of integrated climatic alert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2135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2.3</a:t>
            </a:r>
            <a:r>
              <a:rPr spc="-120" dirty="0"/>
              <a:t> </a:t>
            </a:r>
            <a:r>
              <a:rPr spc="-10" dirty="0"/>
              <a:t>Proposed</a:t>
            </a:r>
            <a:r>
              <a:rPr spc="-10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88616"/>
            <a:ext cx="106984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Instant Cloud AI Diagnostics: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Identifies 38+ plant and fruit health conditions across 14 crop species in 2–5 seconds with 95%+ accuracy.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3-Card Remedy Framework: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Structures output into Disease Cause (pathogen spread), Prevention (spacing/hygiene), and Organic/Chemical Treatments.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Live APMC Mandi Rate Board: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Integrates live data.gov.in mandi rates, daily trade volumes, and trend indicators (▲ green / ▼ red).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MD5 Seeded Price Engine: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Features a deterministic MD5 fallback simulator ensuring stable offline mandi prices based on State + Crop + Date.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Interactive India SVG Crop Map: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Geospatial SVG map rendering regional crop profiles, sowing/harvest calendars, and district cultivation guides.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National Export Dashboard: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Ranks top 10 national export crops, primary importing trade countries (e.g. Mango to UAE), and volume shares.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Weather Sensitivity Warning System: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Correlates state-wise temperature and humidity parameters with specific fungal/bacterial outbreak risks.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2.3.1</a:t>
            </a:r>
            <a:r>
              <a:rPr spc="-100" dirty="0"/>
              <a:t> </a:t>
            </a:r>
            <a:r>
              <a:rPr spc="-10" dirty="0"/>
              <a:t>Comparison</a:t>
            </a:r>
            <a:r>
              <a:rPr spc="-95" dirty="0"/>
              <a:t> </a:t>
            </a:r>
            <a:r>
              <a:rPr spc="-10" dirty="0"/>
              <a:t>Study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78720"/>
              </p:ext>
            </p:extLst>
          </p:nvPr>
        </p:nvGraphicFramePr>
        <p:xfrm>
          <a:off x="731520" y="16306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Evaluation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Traditional 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Proposed </a:t>
                      </a:r>
                      <a:r>
                        <a:rPr sz="1600" dirty="0" err="1"/>
                        <a:t>AgriVision</a:t>
                      </a:r>
                      <a:r>
                        <a:rPr sz="1600" dirty="0"/>
                        <a:t> AI Portal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Diagnostic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1 to 2 Weeks (Manual Extension Visit)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2 to 5 Seconds (Instant Cloud AI Pipeline)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Diagnostic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Variable / Subject to Visual Guesswork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Up to 95%+ Accuracy (Plant.id Deep Learning API)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Market Price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Verbal / Middleman Controlled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Real-time APMC Mandi Rates &amp; Trend Arrows (▲/▼)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Offline Data Resilience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Zero Support (Information Interrupted)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MD5 Seeded Price Simulator &amp; Local Rule Dictionary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Remediation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Generic Chemical Sprays / Advice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3-Card Targeted Remedy (Cause, Prevention, Chemical)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Geospatial &amp; Export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Paper Bulletins / Non-Existent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Interactive SVG Maps &amp; National Export Share 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Platform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Physical Presence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24/7 Web &amp; Mobile Browser Access Across Devices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1765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2.3.2</a:t>
            </a:r>
            <a:r>
              <a:rPr spc="-25" dirty="0"/>
              <a:t> </a:t>
            </a:r>
            <a:r>
              <a:rPr spc="-10" dirty="0"/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74051"/>
            <a:ext cx="1069848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Module 1: AI Pathology Diagnostics: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Handles leaf/fruit image upload, Base64 conversion, Plant.id API v3 POST transmission, 10% thresholding, and confidence score meter rendering.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Module 2: APMC Mandi Price Board: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Fetches live commodity market data from data.gov.in APIs. Incorporates MD5 deterministic hashing fallback (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State+Crop+Date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) for offline pricing.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Module 3: Interactive Crop Profile Map: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Features an inline SVG map of India. Click event handlers dynamically display state-specific crop choices, sowing/harvest times, and district guides.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Module 4: National Export Intelligence Dashboard: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Maintains an active directory ranking top 10 agricultural exports, primary trade partner nations (e.g. Rice to Saudi Arabia 18%), and export volume shares.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Module 5: Weather Sensitivity Alert Engine: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Tracks temperature, humidity, and atmospheric conditions across states, mapping variables to fungal/bacterial disease outbreak warnings.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Module 6: Localized Remediation Engine: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Scans disease tags against internal dictionary databases (`DISEASE_CAUSES`, `DISEASE_PREVENTION`) to provide biological and chemical treatments.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5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3.1</a:t>
            </a:r>
            <a:r>
              <a:rPr spc="-114" dirty="0"/>
              <a:t> </a:t>
            </a:r>
            <a:r>
              <a:rPr spc="-20" dirty="0"/>
              <a:t>Hardware</a:t>
            </a:r>
            <a:r>
              <a:rPr spc="-105" dirty="0"/>
              <a:t> </a:t>
            </a:r>
            <a:r>
              <a:rPr spc="-10" dirty="0"/>
              <a:t>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616758"/>
              </p:ext>
            </p:extLst>
          </p:nvPr>
        </p:nvGraphicFramePr>
        <p:xfrm>
          <a:off x="731520" y="1706880"/>
          <a:ext cx="10698480" cy="43891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Specification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Server / Hosting Environment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Client / User Device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Processor (CPU)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Intel Core i5 / AMD Ryzen 5 (4+ Cores @ 2.5GHz+)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Any Quad-Core Smartphone, Tablet, or PC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System Memory (RAM)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8 GB DDR4 RAM Minimum (16 GB Recommended)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2 GB RAM Minimum (4 GB Recommended)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Storage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20 GB High-Speed </a:t>
                      </a:r>
                      <a:r>
                        <a:rPr sz="1400" dirty="0" err="1"/>
                        <a:t>NVMe</a:t>
                      </a:r>
                      <a:r>
                        <a:rPr sz="1400" dirty="0"/>
                        <a:t> / SSD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50 MB Free Storage (Browser Cache)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Image Capture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Not Applicable (Server Side)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Standard 5MP+ Rear/Front Mobile Camera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Network Card /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1 Gbps High-Speed Ethernet / Cloud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3G / 4G / 5G Mobile Data or Wi-Fi Connection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Display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1920 x 1080 (For Development / Admin)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Responsive Screen (320px to 4K resolution)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9995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3.2</a:t>
            </a:r>
            <a:r>
              <a:rPr spc="-110" dirty="0"/>
              <a:t> </a:t>
            </a:r>
            <a:r>
              <a:rPr spc="-10" dirty="0"/>
              <a:t>Software</a:t>
            </a:r>
            <a:r>
              <a:rPr spc="-110" dirty="0"/>
              <a:t> </a:t>
            </a:r>
            <a:r>
              <a:rPr spc="-10" dirty="0"/>
              <a:t>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378308"/>
              </p:ext>
            </p:extLst>
          </p:nvPr>
        </p:nvGraphicFramePr>
        <p:xfrm>
          <a:off x="1341120" y="1158240"/>
          <a:ext cx="10698480" cy="478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Software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Technology / Tool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Version / Specifications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Functional Role in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Operating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Windows 10/11 / Linux (Ubuntu)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v22.04 LTS / 64-bit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Server hosting &amp; development environment.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Backend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Python 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Python 3.10+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Core execution &amp; logic environment.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Web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Flask Micro-Framework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Flask v3.1.1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Web server routing, request handling &amp; sessions.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WSGI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 err="1"/>
                        <a:t>Gunicorn</a:t>
                      </a:r>
                      <a:r>
                        <a:rPr sz="1400" dirty="0"/>
                        <a:t> HTTP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v26.0.0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Production web server deployment interface.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AI Diagnostic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Plant.id API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API v3 (Plant.id Cloud)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Deep learning disease classification engine.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Market Data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Open Government Data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Data.gov.in API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Fetching live regional APMC mandi prices.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Frontend UI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HTML5, Vanilla CSS3, 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ES6+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 err="1"/>
                        <a:t>Glassmorphism</a:t>
                      </a:r>
                      <a:r>
                        <a:rPr sz="1400" dirty="0"/>
                        <a:t> UI, SVG maps &amp; dynamic rendering.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Web 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Google Chrome / Firefox /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Latest Evergreen 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400" dirty="0"/>
                        <a:t>Cross-platform client UI rendering.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963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4.1</a:t>
            </a:r>
            <a:r>
              <a:rPr spc="-75" dirty="0"/>
              <a:t> </a:t>
            </a:r>
            <a:r>
              <a:rPr dirty="0"/>
              <a:t>Time</a:t>
            </a:r>
            <a:r>
              <a:rPr spc="-70" dirty="0"/>
              <a:t> </a:t>
            </a:r>
            <a:r>
              <a:rPr dirty="0"/>
              <a:t>Line</a:t>
            </a:r>
            <a:r>
              <a:rPr spc="-75" dirty="0"/>
              <a:t> </a:t>
            </a:r>
            <a:r>
              <a:rPr spc="-10" dirty="0"/>
              <a:t>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645920" cy="36576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Weeks 1–2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0" y="1463040"/>
            <a:ext cx="1645920" cy="36576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Weeks 3–4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463040"/>
            <a:ext cx="1645920" cy="36576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Weeks 5–7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0" y="1463040"/>
            <a:ext cx="1645920" cy="36576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Weeks 8–10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463040"/>
            <a:ext cx="1645920" cy="36576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Weeks 11–12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20"/>
            <a:ext cx="1828800" cy="365760"/>
          </a:xfrm>
          <a:prstGeom prst="rect">
            <a:avLst/>
          </a:prstGeom>
          <a:solidFill>
            <a:srgbClr val="EBEEF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P1: Phase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874520"/>
            <a:ext cx="1645920" cy="365760"/>
          </a:xfrm>
          <a:prstGeom prst="roundRect">
            <a:avLst/>
          </a:prstGeom>
          <a:solidFill>
            <a:srgbClr val="C8DC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Phase 1: Requirements &amp;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1828800" cy="365760"/>
          </a:xfrm>
          <a:prstGeom prst="rect">
            <a:avLst/>
          </a:prstGeom>
          <a:solidFill>
            <a:srgbClr val="EBEEF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P2: Phase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286000"/>
            <a:ext cx="1645920" cy="365760"/>
          </a:xfrm>
          <a:prstGeom prst="roundRect">
            <a:avLst/>
          </a:prstGeom>
          <a:solidFill>
            <a:srgbClr val="C8DC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Phase 2: UI &amp; SVG Map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97480"/>
            <a:ext cx="1828800" cy="365760"/>
          </a:xfrm>
          <a:prstGeom prst="rect">
            <a:avLst/>
          </a:prstGeom>
          <a:solidFill>
            <a:srgbClr val="EBEEF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P3: Phase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697480"/>
            <a:ext cx="1645920" cy="365760"/>
          </a:xfrm>
          <a:prstGeom prst="roundRect">
            <a:avLst/>
          </a:prstGeom>
          <a:solidFill>
            <a:srgbClr val="C8DC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Phase 3: Deep Learning API Setup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solidFill>
            <a:srgbClr val="EBEEF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P4: Phase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3108960"/>
            <a:ext cx="1645920" cy="365760"/>
          </a:xfrm>
          <a:prstGeom prst="roundRect">
            <a:avLst/>
          </a:prstGeom>
          <a:solidFill>
            <a:srgbClr val="C8DC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Phase 4: Backend &amp; APMC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20440"/>
            <a:ext cx="1828800" cy="365760"/>
          </a:xfrm>
          <a:prstGeom prst="rect">
            <a:avLst/>
          </a:prstGeom>
          <a:solidFill>
            <a:srgbClr val="EBEEF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P5: Phase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520440"/>
            <a:ext cx="1645920" cy="365760"/>
          </a:xfrm>
          <a:prstGeom prst="roundRect">
            <a:avLst/>
          </a:prstGeom>
          <a:solidFill>
            <a:srgbClr val="C8DC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Phase 5: Testing &amp; Final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69848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Phase 1 (Weeks 1–2):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Problem identification, literature review, baseline specifications &amp; dataset analysis.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Phase 2 (Weeks 3–4):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Wireframing 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glassmorphism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 layouts, styling vanilla CSS &amp; embedding SVG India maps.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Phase 3 (Weeks 5–7):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Plant.id API v3 setup, Base64 payload encoding, confidence thresholding &amp; fallback rules.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Phase 4 (Weeks 8–10):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Flask routing (`app.py`), MD5 hashing price fallback simulator &amp; state crop JSON mapping.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Phase 5 (Weeks 11–12):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Unit testing, cross-browser compatibility checks, documentation &amp; final PPT format preparation.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122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4.2</a:t>
            </a:r>
            <a:r>
              <a:rPr spc="-105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spc="-10" dirty="0"/>
              <a:t>Dictionary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535951"/>
              </p:ext>
            </p:extLst>
          </p:nvPr>
        </p:nvGraphicFramePr>
        <p:xfrm>
          <a:off x="1341120" y="1143000"/>
          <a:ext cx="10698480" cy="4736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Constraint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600" dirty="0"/>
                        <a:t>Description /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`scans`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 err="1"/>
                        <a:t>scan_id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VARCHAR(36)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Unique UUID for every uploaded leaf/fruit scan.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`scans`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 err="1"/>
                        <a:t>image_path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VARCHAR(255)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Local file path stored in `static/uploads/`.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`scans`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 err="1"/>
                        <a:t>plant_species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VARCHAR(100)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Identified crop species (e.g. Tomato, Apple, Corn).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`scans`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 err="1"/>
                        <a:t>disease_label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VARCHAR(150)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Identified pathology (e.g. Early Blight, Healthy).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`scans`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Diagnostic confidence percentage score (0% to 100%).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`</a:t>
                      </a:r>
                      <a:r>
                        <a:rPr sz="1200" dirty="0" err="1"/>
                        <a:t>state_crops</a:t>
                      </a:r>
                      <a:r>
                        <a:rPr sz="1200" dirty="0"/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 err="1"/>
                        <a:t>state_id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VARCHAR(50)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Unique state identifier code (e.g. `GJ`, `MH`).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`</a:t>
                      </a:r>
                      <a:r>
                        <a:rPr sz="1200" dirty="0" err="1"/>
                        <a:t>state_crops</a:t>
                      </a:r>
                      <a:r>
                        <a:rPr sz="1200" dirty="0"/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 err="1"/>
                        <a:t>major_crops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Comma-separated list of primary regional crops.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`</a:t>
                      </a:r>
                      <a:r>
                        <a:rPr sz="1200" dirty="0" err="1"/>
                        <a:t>mandi_rates</a:t>
                      </a:r>
                      <a:r>
                        <a:rPr sz="1200" dirty="0"/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 err="1"/>
                        <a:t>modal_price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Daily benchmark price per quintal in APMC mandi.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`</a:t>
                      </a:r>
                      <a:r>
                        <a:rPr sz="1200" dirty="0" err="1"/>
                        <a:t>export_data</a:t>
                      </a:r>
                      <a:r>
                        <a:rPr sz="1200" dirty="0"/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 err="1"/>
                        <a:t>export_share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Percentage share of total national export volume.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461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4.3</a:t>
            </a:r>
            <a:r>
              <a:rPr spc="-15" dirty="0"/>
              <a:t> </a:t>
            </a:r>
            <a:r>
              <a:rPr dirty="0"/>
              <a:t>ER</a:t>
            </a:r>
            <a:r>
              <a:rPr spc="-10" dirty="0"/>
              <a:t> </a:t>
            </a:r>
            <a:r>
              <a:rPr spc="-20" dirty="0"/>
              <a:t>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920240" cy="36576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92024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user_ip</a:t>
            </a:r>
            <a:endParaRPr dirty="0"/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session_id</a:t>
            </a:r>
            <a:endParaRPr dirty="0"/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timestamp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645920"/>
            <a:ext cx="1920240" cy="36576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IMAGE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011680"/>
            <a:ext cx="192024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scan_id</a:t>
            </a:r>
            <a:r>
              <a:rPr dirty="0"/>
              <a:t> (PK)</a:t>
            </a:r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image_path</a:t>
            </a:r>
            <a:endParaRPr dirty="0"/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upload_time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120640" y="1645920"/>
            <a:ext cx="1920240" cy="36576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DISEASE DIAGNOSIS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011680"/>
            <a:ext cx="192024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diagnosis_id</a:t>
            </a:r>
            <a:r>
              <a:rPr dirty="0"/>
              <a:t> (PK)</a:t>
            </a:r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plant_species</a:t>
            </a:r>
            <a:endParaRPr dirty="0"/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disease_label</a:t>
            </a:r>
            <a:endParaRPr dirty="0"/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confidence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645920"/>
            <a:ext cx="1920240" cy="36576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STATE &amp; CROP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011680"/>
            <a:ext cx="192024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state_id</a:t>
            </a:r>
            <a:r>
              <a:rPr dirty="0"/>
              <a:t> (PK)</a:t>
            </a:r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state_name</a:t>
            </a:r>
            <a:endParaRPr dirty="0"/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major_crops</a:t>
            </a:r>
            <a:endParaRPr dirty="0"/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sowing_season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9509760" y="1645920"/>
            <a:ext cx="1920240" cy="36576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MARKET &amp; EXPORT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2011680"/>
            <a:ext cx="192024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rate_id</a:t>
            </a:r>
            <a:r>
              <a:rPr dirty="0"/>
              <a:t> (PK)</a:t>
            </a:r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modal_price</a:t>
            </a:r>
            <a:endParaRPr dirty="0"/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trend_arrow</a:t>
            </a:r>
            <a:endParaRPr dirty="0"/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export_share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0698480" cy="19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USER to IMAGE SCAN (1 : N):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A single user/farmer can submit multiple leaf and fruit image scans.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IMAGE SCAN to DISEASE DIAGNOSIS (1 : 1):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Each image scan generates exactly one structured disease diagnostic report.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STATE to CROP PROFILE (1 : N):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Each Indian state maps to multiple regional crop profiles and sowing calendars.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CROP to APMC MARKET PRICE (1 : N):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Each commodity tracks daily APMC mandi market rates, daily trade volume &amp; trend metrics.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CROP to EXPORT TRADE SHARE (1 : N):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High-value export crops map to target importing nations and category volume shares.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9875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4.4.1</a:t>
            </a:r>
            <a:r>
              <a:rPr spc="-75" dirty="0"/>
              <a:t> </a:t>
            </a:r>
            <a:r>
              <a:rPr dirty="0"/>
              <a:t>Use</a:t>
            </a:r>
            <a:r>
              <a:rPr spc="-70" dirty="0"/>
              <a:t> </a:t>
            </a:r>
            <a:r>
              <a:rPr dirty="0"/>
              <a:t>Case</a:t>
            </a:r>
            <a:r>
              <a:rPr spc="-70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645920" cy="2286000"/>
          </a:xfrm>
          <a:prstGeom prst="round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rPr dirty="0"/>
              <a:t>ACTOR:</a:t>
            </a:r>
          </a:p>
          <a:p>
            <a:endParaRPr dirty="0"/>
          </a:p>
          <a:p>
            <a:r>
              <a:rPr dirty="0"/>
              <a:t>FARMER /</a:t>
            </a:r>
          </a:p>
          <a:p>
            <a:r>
              <a:rPr dirty="0"/>
              <a:t>USER /</a:t>
            </a:r>
          </a:p>
          <a:p>
            <a:r>
              <a:rPr dirty="0"/>
              <a:t>TRADER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463040"/>
            <a:ext cx="8686800" cy="3291840"/>
          </a:xfrm>
          <a:prstGeom prst="rect">
            <a:avLst/>
          </a:prstGeom>
          <a:solidFill>
            <a:srgbClr val="FAFAF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3017520" y="1645920"/>
            <a:ext cx="3474720" cy="640080"/>
          </a:xfrm>
          <a:prstGeom prst="ellipse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UC1: Upload Leaf Photo</a:t>
            </a:r>
          </a:p>
        </p:txBody>
      </p:sp>
      <p:sp>
        <p:nvSpPr>
          <p:cNvPr id="6" name="Oval 5"/>
          <p:cNvSpPr/>
          <p:nvPr/>
        </p:nvSpPr>
        <p:spPr>
          <a:xfrm>
            <a:off x="6949440" y="1645920"/>
            <a:ext cx="3474720" cy="640080"/>
          </a:xfrm>
          <a:prstGeom prst="ellipse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UC2: View Diagnostics &amp; Remedy</a:t>
            </a:r>
          </a:p>
        </p:txBody>
      </p:sp>
      <p:sp>
        <p:nvSpPr>
          <p:cNvPr id="7" name="Oval 6"/>
          <p:cNvSpPr/>
          <p:nvPr/>
        </p:nvSpPr>
        <p:spPr>
          <a:xfrm>
            <a:off x="3017520" y="2468880"/>
            <a:ext cx="3474720" cy="640080"/>
          </a:xfrm>
          <a:prstGeom prst="ellipse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UC3: Browse SVG Crop Map</a:t>
            </a:r>
          </a:p>
        </p:txBody>
      </p:sp>
      <p:sp>
        <p:nvSpPr>
          <p:cNvPr id="8" name="Oval 7"/>
          <p:cNvSpPr/>
          <p:nvPr/>
        </p:nvSpPr>
        <p:spPr>
          <a:xfrm>
            <a:off x="6949440" y="2468880"/>
            <a:ext cx="3474720" cy="640080"/>
          </a:xfrm>
          <a:prstGeom prst="ellipse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UC4: View Live Mandi Rates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3291840"/>
            <a:ext cx="3474720" cy="640080"/>
          </a:xfrm>
          <a:prstGeom prst="ellipse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UC5: Explore Export Shares</a:t>
            </a:r>
          </a:p>
        </p:txBody>
      </p:sp>
      <p:sp>
        <p:nvSpPr>
          <p:cNvPr id="10" name="Oval 9"/>
          <p:cNvSpPr/>
          <p:nvPr/>
        </p:nvSpPr>
        <p:spPr>
          <a:xfrm>
            <a:off x="6949440" y="3291840"/>
            <a:ext cx="3474720" cy="640080"/>
          </a:xfrm>
          <a:prstGeom prst="ellipse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UC6: Check Weather Risk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6984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Actor Roles: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Farmer / Agricultural Extension Worker / Crop Trader interacting via mobile or web client.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System Boundary: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Encloses 6 core functional use cases orchestrating diagnostics, pricing, and geospatial maps.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9875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4.4.2</a:t>
            </a:r>
            <a:r>
              <a:rPr spc="-75" dirty="0"/>
              <a:t> </a:t>
            </a:r>
            <a:r>
              <a:rPr dirty="0"/>
              <a:t>Use</a:t>
            </a:r>
            <a:r>
              <a:rPr spc="-70" dirty="0"/>
              <a:t> </a:t>
            </a:r>
            <a:r>
              <a:rPr dirty="0"/>
              <a:t>Case</a:t>
            </a:r>
            <a:r>
              <a:rPr spc="-70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554480" cy="1097280"/>
          </a:xfrm>
          <a:prstGeom prst="roundRect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Start Node</a:t>
            </a:r>
          </a:p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(Upload)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645920"/>
            <a:ext cx="1554480" cy="1097280"/>
          </a:xfrm>
          <a:prstGeom prst="roundRect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Flask Route</a:t>
            </a:r>
          </a:p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(`/upload`)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1554480" cy="1097280"/>
          </a:xfrm>
          <a:prstGeom prst="roundRect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Base64 ASCII</a:t>
            </a:r>
          </a:p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1554480" cy="1097280"/>
          </a:xfrm>
          <a:prstGeom prst="roundRect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Plant.id API</a:t>
            </a:r>
          </a:p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Query 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1554480" cy="1097280"/>
          </a:xfrm>
          <a:prstGeom prst="roundRect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Confidence Check</a:t>
            </a:r>
          </a:p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(&gt; 10% Threshold)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1645920"/>
            <a:ext cx="1554480" cy="1097280"/>
          </a:xfrm>
          <a:prstGeom prst="roundRect">
            <a:avLst/>
          </a:prstGeom>
          <a:solidFill>
            <a:srgbClr val="E6EE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Render Result</a:t>
            </a:r>
          </a:p>
          <a:p>
            <a:pPr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dirty="0"/>
              <a:t>(`result.html`)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926080"/>
            <a:ext cx="4297680" cy="914400"/>
          </a:xfrm>
          <a:prstGeom prst="rect">
            <a:avLst/>
          </a:prstGeom>
          <a:solidFill>
            <a:srgbClr val="FFF5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EXCEPTIONS / FALLBACK BRANCH:</a:t>
            </a:r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API Offline / Empty -&gt; Trigger `</a:t>
            </a:r>
            <a:r>
              <a:rPr dirty="0" err="1"/>
              <a:t>get_disease_info</a:t>
            </a:r>
            <a:r>
              <a:rPr dirty="0"/>
              <a:t>()` local dictionary.</a:t>
            </a:r>
          </a:p>
          <a:p>
            <a:pPr>
              <a:defRPr sz="950">
                <a:solidFill>
                  <a:srgbClr val="282828"/>
                </a:solidFill>
                <a:latin typeface="Calibri"/>
              </a:defRPr>
            </a:pPr>
            <a:r>
              <a:rPr dirty="0"/>
              <a:t>• Mandi Rate Fail -&gt; Trigger `</a:t>
            </a:r>
            <a:r>
              <a:rPr dirty="0" err="1"/>
              <a:t>get_seeded_market_data</a:t>
            </a:r>
            <a:r>
              <a:rPr dirty="0"/>
              <a:t>()` MD5 simulator.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698480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Sequential Execution Flow: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File upload -&gt; UUID generation -&gt; Base64 encoding -&gt; API POST request -&gt; Confidence evaluation -&gt; Dashboard view.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Decision Logic: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Applies 10% probability threshold to filter out false alarms on healthy plant leaves.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Fallback Sub-Routine: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Executes keyword matching algorithm (`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get_disease_info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()`) if API is unreachable.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796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4.4.3</a:t>
            </a:r>
            <a:r>
              <a:rPr spc="-120" dirty="0"/>
              <a:t> </a:t>
            </a:r>
            <a:r>
              <a:rPr dirty="0"/>
              <a:t>Sequence</a:t>
            </a:r>
            <a:r>
              <a:rPr spc="-120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377440" cy="45720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Client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103120"/>
            <a:ext cx="182880" cy="1828800"/>
          </a:xfrm>
          <a:prstGeom prst="rect">
            <a:avLst/>
          </a:prstGeom>
          <a:solidFill>
            <a:srgbClr val="F0F0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3474720" y="1645920"/>
            <a:ext cx="2377440" cy="45720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Flask App (`app.py`)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103120"/>
            <a:ext cx="182880" cy="1828800"/>
          </a:xfrm>
          <a:prstGeom prst="rect">
            <a:avLst/>
          </a:prstGeom>
          <a:solidFill>
            <a:srgbClr val="F0F0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2377440" cy="45720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API Client (`api_client.py`)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103120"/>
            <a:ext cx="182880" cy="1828800"/>
          </a:xfrm>
          <a:prstGeom prst="rect">
            <a:avLst/>
          </a:prstGeom>
          <a:solidFill>
            <a:srgbClr val="F0F0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8961120" y="1645920"/>
            <a:ext cx="2377440" cy="45720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dirty="0"/>
              <a:t>Plant.id Cloud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2103120"/>
            <a:ext cx="182880" cy="1828800"/>
          </a:xfrm>
          <a:prstGeom prst="rect">
            <a:avLst/>
          </a:prstGeom>
          <a:solidFill>
            <a:srgbClr val="F0F0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14400" y="2286000"/>
            <a:ext cx="3657600" cy="320040"/>
          </a:xfrm>
          <a:prstGeom prst="roundRect">
            <a:avLst/>
          </a:prstGeom>
          <a:solidFill>
            <a:srgbClr val="E6F0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 b="1">
                <a:solidFill>
                  <a:srgbClr val="000000"/>
                </a:solidFill>
                <a:latin typeface="Calibri"/>
              </a:defRPr>
            </a:pPr>
            <a:r>
              <a:rPr dirty="0"/>
              <a:t>1. HTTP POST /upload (Image File)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651760"/>
            <a:ext cx="3657600" cy="320040"/>
          </a:xfrm>
          <a:prstGeom prst="roundRect">
            <a:avLst/>
          </a:prstGeom>
          <a:solidFill>
            <a:srgbClr val="E6F0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api_predict</a:t>
            </a:r>
            <a:r>
              <a:rPr dirty="0"/>
              <a:t>(</a:t>
            </a:r>
            <a:r>
              <a:rPr dirty="0" err="1"/>
              <a:t>image_path</a:t>
            </a:r>
            <a:r>
              <a:rPr dirty="0"/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17520"/>
            <a:ext cx="3657600" cy="320040"/>
          </a:xfrm>
          <a:prstGeom prst="roundRect">
            <a:avLst/>
          </a:prstGeom>
          <a:solidFill>
            <a:srgbClr val="E6F0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 b="1">
                <a:solidFill>
                  <a:srgbClr val="000000"/>
                </a:solidFill>
                <a:latin typeface="Calibri"/>
              </a:defRPr>
            </a:pPr>
            <a:r>
              <a:rPr dirty="0"/>
              <a:t>3. POST Base64 Payload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383280"/>
            <a:ext cx="6400800" cy="320040"/>
          </a:xfrm>
          <a:prstGeom prst="roundRect">
            <a:avLst/>
          </a:prstGeom>
          <a:solidFill>
            <a:srgbClr val="E6F0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 Return JSON (Label &amp; Conf)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1069848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Message Passing Sequence: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Orderly synchronous message exchange between client browser, Flask router, API client, and Plant.id API.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Response Processing: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JSON payload parsed by `api_client.py` and returned to `app.py` for template rendering.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4415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4.4.4</a:t>
            </a:r>
            <a:r>
              <a:rPr spc="-100" dirty="0"/>
              <a:t> </a:t>
            </a:r>
            <a:r>
              <a:rPr spc="-20" dirty="0"/>
              <a:t>Collaboration</a:t>
            </a:r>
            <a:r>
              <a:rPr spc="-100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2011680"/>
            <a:ext cx="3291840" cy="1097280"/>
          </a:xfrm>
          <a:prstGeom prst="rect">
            <a:avLst/>
          </a:prstGeom>
          <a:solidFill>
            <a:srgbClr val="DCE1EB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0000"/>
                </a:solidFill>
                <a:latin typeface="Calibri"/>
              </a:defRPr>
            </a:pPr>
            <a:r>
              <a:rPr dirty="0"/>
              <a:t>CENTRAL ROUTER:</a:t>
            </a:r>
          </a:p>
          <a:p>
            <a:r>
              <a:rPr dirty="0"/>
              <a:t>Flask App (`app.py`)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108960" cy="914400"/>
          </a:xfrm>
          <a:prstGeom prst="roundRect">
            <a:avLst/>
          </a:prstGeom>
          <a:solidFill>
            <a:srgbClr val="F0F4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000000"/>
                </a:solidFill>
                <a:latin typeface="Calibri"/>
              </a:defRPr>
            </a:pPr>
            <a:r>
              <a:rPr dirty="0"/>
              <a:t>1: User Upload</a:t>
            </a:r>
          </a:p>
          <a:p>
            <a:pPr>
              <a:defRPr sz="1050" b="1">
                <a:solidFill>
                  <a:srgbClr val="000000"/>
                </a:solidFill>
                <a:latin typeface="Calibri"/>
              </a:defRPr>
            </a:pPr>
            <a:r>
              <a:rPr dirty="0"/>
              <a:t>[Client Web UI]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108960" cy="914400"/>
          </a:xfrm>
          <a:prstGeom prst="roundRect">
            <a:avLst/>
          </a:prstGeom>
          <a:solidFill>
            <a:srgbClr val="F0F4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000000"/>
                </a:solidFill>
                <a:latin typeface="Calibri"/>
              </a:defRPr>
            </a:pPr>
            <a:r>
              <a:rPr dirty="0"/>
              <a:t>2: Diagnostic Query</a:t>
            </a:r>
          </a:p>
          <a:p>
            <a:pPr>
              <a:defRPr sz="1050" b="1">
                <a:solidFill>
                  <a:srgbClr val="000000"/>
                </a:solidFill>
                <a:latin typeface="Calibri"/>
              </a:defRPr>
            </a:pPr>
            <a:r>
              <a:rPr dirty="0"/>
              <a:t>[API Client (`api_client.py`)]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108960" cy="914400"/>
          </a:xfrm>
          <a:prstGeom prst="roundRect">
            <a:avLst/>
          </a:prstGeom>
          <a:solidFill>
            <a:srgbClr val="F0F4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000000"/>
                </a:solidFill>
                <a:latin typeface="Calibri"/>
              </a:defRPr>
            </a:pPr>
            <a:r>
              <a:rPr dirty="0"/>
              <a:t>3: APMC Market Rates</a:t>
            </a:r>
          </a:p>
          <a:p>
            <a:pPr>
              <a:defRPr sz="1050" b="1">
                <a:solidFill>
                  <a:srgbClr val="000000"/>
                </a:solidFill>
                <a:latin typeface="Calibri"/>
              </a:defRPr>
            </a:pPr>
            <a:r>
              <a:rPr dirty="0"/>
              <a:t>[MD5 Price Engine]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108960"/>
            <a:ext cx="3108960" cy="914400"/>
          </a:xfrm>
          <a:prstGeom prst="roundRect">
            <a:avLst/>
          </a:prstGeom>
          <a:solidFill>
            <a:srgbClr val="F0F4F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50" b="1">
                <a:solidFill>
                  <a:srgbClr val="000000"/>
                </a:solidFill>
                <a:latin typeface="Calibri"/>
              </a:defRPr>
            </a:pPr>
            <a:r>
              <a:rPr dirty="0"/>
              <a:t>4: Rendered Dashboard</a:t>
            </a:r>
          </a:p>
          <a:p>
            <a:pPr>
              <a:defRPr sz="1050" b="1">
                <a:solidFill>
                  <a:srgbClr val="000000"/>
                </a:solidFill>
                <a:latin typeface="Calibri"/>
              </a:defRPr>
            </a:pPr>
            <a:r>
              <a:rPr dirty="0"/>
              <a:t>[HTML View Engine]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6984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Structural Inter-Connections: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Exhibits component relationships and message flows centered around Flask backend `app.py`.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Decoupled Architecture: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Isolates web routing from external API queries (`api_client.py`) and market simulation routines.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6439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4.4.5</a:t>
            </a:r>
            <a:r>
              <a:rPr spc="-70" dirty="0"/>
              <a:t> </a:t>
            </a:r>
            <a:r>
              <a:rPr dirty="0"/>
              <a:t>Class</a:t>
            </a:r>
            <a:r>
              <a:rPr spc="-70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46888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sz="1600" dirty="0" err="1"/>
              <a:t>FlaskServer</a:t>
            </a:r>
            <a:endParaRPr sz="1600" dirty="0"/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468880" cy="18288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Attributes: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- </a:t>
            </a:r>
            <a:r>
              <a:rPr sz="1400" dirty="0" err="1"/>
              <a:t>upload_folder</a:t>
            </a:r>
            <a:endParaRPr sz="1400" dirty="0"/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- </a:t>
            </a:r>
            <a:r>
              <a:rPr sz="1400" dirty="0" err="1"/>
              <a:t>secret_key</a:t>
            </a:r>
            <a:endParaRPr sz="1400" dirty="0"/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endParaRPr sz="1400" dirty="0"/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Methods: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+ home()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+ upload()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+ </a:t>
            </a:r>
            <a:r>
              <a:rPr sz="1400" dirty="0" err="1"/>
              <a:t>map_page</a:t>
            </a:r>
            <a:r>
              <a:rPr sz="1400" dirty="0"/>
              <a:t>()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645920"/>
            <a:ext cx="246888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sz="1600" dirty="0" err="1"/>
              <a:t>APIClient</a:t>
            </a:r>
            <a:endParaRPr sz="1600" dirty="0"/>
          </a:p>
        </p:txBody>
      </p:sp>
      <p:sp>
        <p:nvSpPr>
          <p:cNvPr id="6" name="Rectangle 5"/>
          <p:cNvSpPr/>
          <p:nvPr/>
        </p:nvSpPr>
        <p:spPr>
          <a:xfrm>
            <a:off x="3474720" y="2011680"/>
            <a:ext cx="2468880" cy="18288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Attributes: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- </a:t>
            </a:r>
            <a:r>
              <a:rPr sz="1400" dirty="0" err="1"/>
              <a:t>api_key</a:t>
            </a:r>
            <a:endParaRPr sz="1400" dirty="0"/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- </a:t>
            </a:r>
            <a:r>
              <a:rPr sz="1400" dirty="0" err="1"/>
              <a:t>base_url</a:t>
            </a:r>
            <a:endParaRPr sz="1400" dirty="0"/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endParaRPr sz="1400" dirty="0"/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Methods: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+ </a:t>
            </a:r>
            <a:r>
              <a:rPr sz="1400" dirty="0" err="1"/>
              <a:t>api_predict</a:t>
            </a:r>
            <a:r>
              <a:rPr sz="1400" dirty="0"/>
              <a:t>()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+ </a:t>
            </a:r>
            <a:r>
              <a:rPr sz="1400" dirty="0" err="1"/>
              <a:t>encode_image</a:t>
            </a:r>
            <a:r>
              <a:rPr sz="1400" dirty="0"/>
              <a:t>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246888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sz="1600" dirty="0" err="1"/>
              <a:t>DiseaseEngine</a:t>
            </a:r>
            <a:endParaRPr sz="1600" dirty="0"/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2468880" cy="18288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Attributes: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- DISEASE_CAUSES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- PREVENTION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endParaRPr sz="1400" dirty="0"/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Methods: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+ </a:t>
            </a:r>
            <a:r>
              <a:rPr sz="1400" dirty="0" err="1"/>
              <a:t>get_disease_info</a:t>
            </a:r>
            <a:r>
              <a:rPr sz="1400" dirty="0"/>
              <a:t>()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645920"/>
            <a:ext cx="246888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>
                <a:solidFill>
                  <a:srgbClr val="000000"/>
                </a:solidFill>
                <a:latin typeface="Calibri"/>
              </a:defRPr>
            </a:pPr>
            <a:r>
              <a:rPr sz="1600" dirty="0" err="1"/>
              <a:t>MarketSimulator</a:t>
            </a:r>
            <a:endParaRPr sz="1600" dirty="0"/>
          </a:p>
        </p:txBody>
      </p:sp>
      <p:sp>
        <p:nvSpPr>
          <p:cNvPr id="10" name="Rectangle 9"/>
          <p:cNvSpPr/>
          <p:nvPr/>
        </p:nvSpPr>
        <p:spPr>
          <a:xfrm>
            <a:off x="8961120" y="2011680"/>
            <a:ext cx="2468880" cy="18288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Attributes: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- </a:t>
            </a:r>
            <a:r>
              <a:rPr sz="1400" dirty="0" err="1"/>
              <a:t>base_prices</a:t>
            </a:r>
            <a:endParaRPr sz="1400" dirty="0"/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- </a:t>
            </a:r>
            <a:r>
              <a:rPr sz="1400" dirty="0" err="1"/>
              <a:t>crop_seeds</a:t>
            </a:r>
            <a:endParaRPr sz="1400" dirty="0"/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endParaRPr sz="1400" dirty="0"/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Methods:</a:t>
            </a:r>
          </a:p>
          <a:p>
            <a:pPr>
              <a:defRPr sz="900">
                <a:solidFill>
                  <a:srgbClr val="282828"/>
                </a:solidFill>
                <a:latin typeface="Calibri"/>
              </a:defRPr>
            </a:pPr>
            <a:r>
              <a:rPr sz="1400" dirty="0"/>
              <a:t>+ </a:t>
            </a:r>
            <a:r>
              <a:rPr sz="1400" dirty="0" err="1"/>
              <a:t>get_seeded_market_data</a:t>
            </a:r>
            <a:r>
              <a:rPr sz="1400" dirty="0"/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69848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Object-Oriented Architecture: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Defines system classes, attributes, encapsulation, and methods across backend services.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Modular Component Design: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Separates concerns between request routing (`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FlaskServer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`), API fetching (`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APIClient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`), and local data services.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634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4.5</a:t>
            </a:r>
            <a:r>
              <a:rPr spc="-70" dirty="0"/>
              <a:t> </a:t>
            </a:r>
            <a:r>
              <a:rPr dirty="0"/>
              <a:t>Input</a:t>
            </a:r>
            <a:r>
              <a:rPr spc="-70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34118"/>
            <a:ext cx="10698480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Upload Form Interface (`upload.html`):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Clean drag-and-drop 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dropzone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 supporting JPG, PNG, and JPEG formats.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Scan Category Toggle Switch: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Radio button toggle allowing selection between 'Plant Leaf' and 'Fruit' diagnostic parameters.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File Validation Rules: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Backend verification ensuring valid MIME image types and maximum file size limits.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Interactive Map Selection (`map.html`, `export.html`):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Direct mouse click input on individual state shapes of the interactive India SVG map.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Responsive Touch Controls: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Optimized touch targets for mobile and tablet users submitting field images directly from phone cameras.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Error Handling UI Alerts: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Flash warning messages informing users if no file is selected or invalid file formats are uploaded.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806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4.6</a:t>
            </a:r>
            <a:r>
              <a:rPr spc="-90" dirty="0"/>
              <a:t> </a:t>
            </a:r>
            <a:r>
              <a:rPr dirty="0"/>
              <a:t>Output</a:t>
            </a:r>
            <a:r>
              <a:rPr spc="-85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34118"/>
            <a:ext cx="1069848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Diagnostic Result Dashboard (`result.html`):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Renders uploaded leaf image thumbnail alongside identified plant species and disease label.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Visual Confidence Score Gauge: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Animated progress bar displaying AI diagnostic probability score (0% to 100%).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3-Card Remedy Layout: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Splits remediation into 3 distinct visual cards: Disease Cause, Preventive Steps, and Organic/Chemical Treatments.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Interactive State Information Panel: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Dynamic sidebar displaying regional APMC commodity rates, daily trade volumes, and trend arrows (▲/▼).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Export Commodity Cards: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Displays top 10 export commodities, target importing nations, and percentage volume shares upon state selection.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</a:t>
            </a:r>
            <a:r>
              <a:rPr sz="1600" b="1" dirty="0" err="1">
                <a:solidFill>
                  <a:srgbClr val="000000"/>
                </a:solidFill>
                <a:latin typeface="Calibri"/>
              </a:rPr>
              <a:t>Glassmorphism</a:t>
            </a:r>
            <a:r>
              <a:rPr sz="1600" b="1" dirty="0">
                <a:solidFill>
                  <a:srgbClr val="000000"/>
                </a:solidFill>
                <a:latin typeface="Calibri"/>
              </a:rPr>
              <a:t> UI Aesthetic: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Styled with clean vanilla CSS 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glassmorphism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, responsive grid containers, and clear typography.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266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5.1</a:t>
            </a:r>
            <a:r>
              <a:rPr spc="-110" dirty="0"/>
              <a:t> </a:t>
            </a:r>
            <a:r>
              <a:rPr spc="-10" dirty="0"/>
              <a:t>System</a:t>
            </a:r>
            <a:r>
              <a:rPr spc="-110" dirty="0"/>
              <a:t> </a:t>
            </a:r>
            <a:r>
              <a:rPr spc="-60" dirty="0"/>
              <a:t>Testing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277178"/>
              </p:ext>
            </p:extLst>
          </p:nvPr>
        </p:nvGraphicFramePr>
        <p:xfrm>
          <a:off x="1341120" y="1051560"/>
          <a:ext cx="10698480" cy="51206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Test Case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Testing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Test Description &amp;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Expected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Unit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Verify Flask web route responses for `/`, `/upload`, `/map`, `/export`.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HTTP 200 OK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API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Test Base64 image encoding and POST request payload to Plant.id API v3.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Valid JSON Diagnosis Returned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Threshold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Submit healthy plant image with disease probability below 10% threshold.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Returns 'Healthy'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Fallback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Simulate API network disconnection during diagnostic upload request.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Triggers Local Dictionary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MD5 Price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Verify APMC mandi price generator with seeded MD5 hash (</a:t>
                      </a:r>
                      <a:r>
                        <a:rPr sz="1200" dirty="0" err="1"/>
                        <a:t>State+Crop+Date</a:t>
                      </a:r>
                      <a:r>
                        <a:rPr sz="1200" dirty="0"/>
                        <a:t>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Generates Stable Mandi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UI SVG Map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Test click event handlers on individual state shapes of India SVG map.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Dynamically Updates Sidebar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Cross-Browser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Test application UI rendering across Chrome, Firefox, Edge &amp; Mobile Safari.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Responsive </a:t>
                      </a:r>
                      <a:r>
                        <a:rPr sz="1200" dirty="0" err="1"/>
                        <a:t>Glassmorphism</a:t>
                      </a:r>
                      <a:r>
                        <a:rPr sz="1200" dirty="0"/>
                        <a:t> Render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sz="1200" dirty="0"/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6.</a:t>
            </a:r>
            <a:r>
              <a:rPr spc="-130" dirty="0"/>
              <a:t> </a:t>
            </a:r>
            <a:r>
              <a:rPr dirty="0"/>
              <a:t>Conclusion</a:t>
            </a:r>
            <a:r>
              <a:rPr spc="-130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Future</a:t>
            </a:r>
            <a:r>
              <a:rPr spc="-130" dirty="0"/>
              <a:t> </a:t>
            </a:r>
            <a:r>
              <a:rPr spc="-10" dirty="0"/>
              <a:t>Enhacement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03261"/>
            <a:ext cx="1069848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Project Conclusion Overview: 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AgriVision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 AI successfully bridges the gap between deep learning pathology diagnostics and agricultural market intelligence.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Diagnostic Efficiency Achieved: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Reduces diagnostic turnaround time from 2 weeks (manual) to 2–5 seconds, preventing widespread crop loss.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Market Empowerment: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Provides transparent APMC mandi prices and export trade metrics, empowering smallholder farmers during price negotiations.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Future Enhancement 1: </a:t>
            </a:r>
            <a:r>
              <a:rPr sz="1600" b="1" dirty="0" err="1">
                <a:solidFill>
                  <a:srgbClr val="000000"/>
                </a:solidFill>
                <a:latin typeface="Calibri"/>
              </a:rPr>
              <a:t>TFLite</a:t>
            </a:r>
            <a:r>
              <a:rPr sz="1600" b="1" dirty="0">
                <a:solidFill>
                  <a:srgbClr val="000000"/>
                </a:solidFill>
                <a:latin typeface="Calibri"/>
              </a:rPr>
              <a:t> Offline Deployment: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Compile MobileNetV2 transfer learning model into a lightweight 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TFLite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 package for on-device mobile diagnostics without internet.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Future Enhancement 2: IoT Drone Integration: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Process aerial field footage from agricultural drones to auto-scan large crop boundaries and map disease outbreak heatmaps.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Future Enhancement 3: Multilingual UI Support: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Localize user interface and treatment guides into regional Indian languages (Hindi, Gujarati, Punjabi, Marathi, Bengali).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Future Enhancement 4: Pest &amp; Weed Classification: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Extend AI engine to identify crop pests, weeds, and beneficial predatory insects, offering eco-friendly weed control.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7405">
              <a:lnSpc>
                <a:spcPct val="100000"/>
              </a:lnSpc>
              <a:spcBef>
                <a:spcPts val="100"/>
              </a:spcBef>
              <a:defRPr sz="2400" b="1">
                <a:solidFill>
                  <a:srgbClr val="000000"/>
                </a:solidFill>
                <a:latin typeface="Calibri"/>
              </a:defRPr>
            </a:pPr>
            <a:r>
              <a:rPr dirty="0"/>
              <a:t>7.</a:t>
            </a:r>
            <a:r>
              <a:rPr spc="-80" dirty="0"/>
              <a:t> </a:t>
            </a:r>
            <a:r>
              <a:rPr spc="-25" dirty="0"/>
              <a:t>Bibliography</a:t>
            </a:r>
            <a:r>
              <a:rPr spc="-7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84310"/>
            <a:ext cx="10698480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Book Reference 1: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Python Web Development with Flask – Miguel Grinberg, O'Reilly Media.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Book Reference 2: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Deep Learning for Computer Vision with Python – Adrian Rosebrock, </a:t>
            </a:r>
            <a:r>
              <a:rPr sz="1600" b="0" dirty="0" err="1">
                <a:solidFill>
                  <a:srgbClr val="232323"/>
                </a:solidFill>
                <a:latin typeface="Calibri"/>
              </a:rPr>
              <a:t>PyImageSearch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Book Reference 3: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Software Engineering: A Practitioner's Approach – Roger S. Pressman, McGraw-Hill.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Web Reference 1: Plant.id API: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Plant.id API v3 Official Documentation &amp; Pathology Gateway – https://api.plant.id/v3/docs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Web Reference 2: APMC Mandi Portal: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Open Government Data Portal (data.gov.in) APMC Mandi Prices API – https://data.gov.in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Web Reference 3: Flask Framework: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Flask Official Documentation &amp; Web Application Guide – https://flask.palletsprojects.com/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Web Reference 4: Dataset Resource: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Kaggle New Plant Diseases Dataset (87,000+ Annotated Leaf Images) – Kaggle Open Datasets.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• Web Reference 5: SVG Mapping: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High-Resolution SVG Vector Maps of India &amp; GIS Boundary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3696</Words>
  <Application>Microsoft Office PowerPoint</Application>
  <PresentationFormat>Widescreen</PresentationFormat>
  <Paragraphs>414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Calibri</vt:lpstr>
      <vt:lpstr>Office Theme</vt:lpstr>
      <vt:lpstr>Title of Project</vt:lpstr>
      <vt:lpstr>1.1 Project Profile</vt:lpstr>
      <vt:lpstr>1.2 About Organization</vt:lpstr>
      <vt:lpstr>2.1 Problem Statement</vt:lpstr>
      <vt:lpstr>2.2 Existing System</vt:lpstr>
      <vt:lpstr>2.2.1 Drawbacks</vt:lpstr>
      <vt:lpstr>2.3 Proposed Systems</vt:lpstr>
      <vt:lpstr>2.3.1 Comparison Study</vt:lpstr>
      <vt:lpstr>2.3.2 Modules</vt:lpstr>
      <vt:lpstr>3.1 Hardware Requirements</vt:lpstr>
      <vt:lpstr>3.2 Software Requirements</vt:lpstr>
      <vt:lpstr>4.1 Time Line Chart</vt:lpstr>
      <vt:lpstr>4.2 Data Dictionary</vt:lpstr>
      <vt:lpstr>4.3 ER Diagram</vt:lpstr>
      <vt:lpstr>4.4.1 Use Case Diagrams</vt:lpstr>
      <vt:lpstr>4.4.2 Use Case Diagrams</vt:lpstr>
      <vt:lpstr>4.4.3 Sequence Diagrams</vt:lpstr>
      <vt:lpstr>4.4.4 Collaboration Diagrams</vt:lpstr>
      <vt:lpstr>4.4.5 Class Diagrams</vt:lpstr>
      <vt:lpstr>4.5 Input Design</vt:lpstr>
      <vt:lpstr>4.6 Output Design</vt:lpstr>
      <vt:lpstr>5.1 System Testing</vt:lpstr>
      <vt:lpstr>6. Conclusion and Future Enhacement</vt:lpstr>
      <vt:lpstr>7. Bibliography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MCA Sem-3 Presentation Format</dc:title>
  <cp:lastModifiedBy>Gojo Saturo</cp:lastModifiedBy>
  <cp:revision>3</cp:revision>
  <dcterms:created xsi:type="dcterms:W3CDTF">2026-08-12T15:43:46Z</dcterms:created>
  <dcterms:modified xsi:type="dcterms:W3CDTF">2026-08-14T07:20:49Z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2026-08-12T00:00:00Z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2026-08-12T00:00:00Z</vt:filetime>
  </property>
</Properties>
</file>
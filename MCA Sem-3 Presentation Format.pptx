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24835" y="559146"/>
            <a:ext cx="405765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7000" y="541449"/>
            <a:ext cx="1142999" cy="1142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" y="6203567"/>
            <a:ext cx="12191996" cy="65443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" y="-2"/>
            <a:ext cx="12191995" cy="5595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82782" y="644040"/>
            <a:ext cx="8626434" cy="8223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4813" rIns="0" bIns="0" rtlCol="0" vert="horz">
            <a:spAutoFit/>
          </a:bodyPr>
          <a:lstStyle/>
          <a:p>
            <a:pPr marL="3541395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Title</a:t>
            </a:r>
            <a:r>
              <a:rPr dirty="0" sz="20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0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Project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07851" y="2057351"/>
            <a:ext cx="1775460" cy="1270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4572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Calibri"/>
                <a:cs typeface="Calibri"/>
              </a:rPr>
              <a:t>Submitted</a:t>
            </a:r>
            <a:r>
              <a:rPr dirty="0" sz="2000" spc="-114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by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00"/>
              </a:spcBef>
            </a:pPr>
            <a:r>
              <a:rPr dirty="0" sz="2000" spc="-10" b="1">
                <a:latin typeface="Calibri"/>
                <a:cs typeface="Calibri"/>
              </a:rPr>
              <a:t>Candidate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Name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2000" spc="-10">
                <a:latin typeface="Calibri"/>
                <a:cs typeface="Calibri"/>
              </a:rPr>
              <a:t>Enrollment.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No.: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41125" y="4089352"/>
            <a:ext cx="4107815" cy="83820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dirty="0" sz="2000" spc="-10">
                <a:latin typeface="Calibri"/>
                <a:cs typeface="Calibri"/>
              </a:rPr>
              <a:t>Submitted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3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MCA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Department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Patel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Institute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Studies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8810" y="5386596"/>
            <a:ext cx="1951588" cy="6332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000000"/>
                </a:solidFill>
                <a:latin typeface="Calibri"/>
              </a:defRPr>
            </a:pPr>
            <a:r>
              <a:t>AgriVision AI</a:t>
            </a:r>
          </a:p>
          <a:p>
            <a:pPr>
              <a:spcAft>
                <a:spcPts val="2400"/>
              </a:spcAft>
              <a:defRPr sz="1800" i="1">
                <a:solidFill>
                  <a:srgbClr val="282828"/>
                </a:solidFill>
                <a:latin typeface="Calibri"/>
              </a:defRPr>
            </a:pPr>
            <a:r>
              <a:t>Advanced Plant Disease Detection &amp; Agricultural Market Intelligence Portal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Submitted by: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Candidate Name: Aryan Ponkiya / Kausar Rami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Enrollment No: ------------------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Submitted to: MCA Department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Acharya Motibhai Patel Institute of Computer Studies (AMPICS)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Ganpat University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Batch: MCA Sem-3 (2024–2026) | Academic Year: 2025–26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1.1</a:t>
            </a:r>
            <a:r>
              <a:rPr dirty="0" spc="-125"/>
              <a:t> </a:t>
            </a:r>
            <a:r>
              <a:rPr dirty="0"/>
              <a:t>Project</a:t>
            </a:r>
            <a:r>
              <a:rPr dirty="0" spc="-125"/>
              <a:t> </a:t>
            </a:r>
            <a:r>
              <a:rPr dirty="0" spc="-10"/>
              <a:t>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Project Name: AgriVision AI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Domain: Artificial Intelligence in Agriculture &amp; Web Market Intelligence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Core Technology: Flask Micro-framework (Python), HTML5, CSS3, JavaScript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AI Diagnostics: Cloud-based Plant.id API v3 (38+ disease classes across 14 crop species)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Market Data: APMC Mandi price integration (data.gov.in API) with MD5 fallback generator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Interactive Mapping: Custom inline SVG geospatial maps of India (Crop, Export &amp; Weather Maps)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Target Audience: Farmers, agricultural extension officers, home gardeners &amp; crop traders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98625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1.2</a:t>
            </a:r>
            <a:r>
              <a:rPr dirty="0" spc="-75"/>
              <a:t> </a:t>
            </a:r>
            <a:r>
              <a:rPr dirty="0"/>
              <a:t>About</a:t>
            </a:r>
            <a:r>
              <a:rPr dirty="0" spc="-75"/>
              <a:t> </a:t>
            </a:r>
            <a:r>
              <a:rPr dirty="0" spc="-20"/>
              <a:t>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Institute: Acharya Motibhai Patel Institute of Computer Studies (AMPICS)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University: Ganpat University, Ganpat Vidyanagar, Gujarat - 384012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Department: Department of Computer Applications (MCA)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Course Code: P13A6SDP1 – System Development Project - I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Academic Focus: Hands-on implementation of machine learning, web routing, and data analytics to solve real-world agricultural challenges.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96085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2.1</a:t>
            </a:r>
            <a:r>
              <a:rPr dirty="0" spc="-105"/>
              <a:t> </a:t>
            </a:r>
            <a:r>
              <a:rPr dirty="0" spc="-10"/>
              <a:t>Problem</a:t>
            </a:r>
            <a:r>
              <a:rPr dirty="0" spc="-100"/>
              <a:t> </a:t>
            </a:r>
            <a:r>
              <a:rPr dirty="0" spc="-10"/>
              <a:t>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Rapid Crop Loss: Fungal and bacterial diseases destroy crops in days if left undetected.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Expert Shortage: Severe deficit of qualified agricultural pathologists in rural regions.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Price Asymmetry: Small farmers sell produce below market rate due to lack of real-time mandi prices.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Pesticide Misuse: Indiscriminate application of chemical sprays damages soil health and increases costs.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Fragmented Information: Farmers must check multiple separate sources for weather alerts, prices, and crop care.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61540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2.2</a:t>
            </a:r>
            <a:r>
              <a:rPr dirty="0" spc="-120"/>
              <a:t> </a:t>
            </a:r>
            <a:r>
              <a:rPr dirty="0"/>
              <a:t>Existing</a:t>
            </a:r>
            <a:r>
              <a:rPr dirty="0" spc="-120"/>
              <a:t> </a:t>
            </a:r>
            <a:r>
              <a:rPr dirty="0" spc="-10"/>
              <a:t>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Manual Inspection: Farmers rely on physical visits by agricultural officers, taking 1 to 2 weeks.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Verbal Mandi Rates: Price information is gathered verbally from local agents without transparency.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Trial &amp; Error Spraying: Pesticide choices are based on guesswork or advice from local shopkeepers.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Paper Pamphlets: Government agricultural advisories are printed on paper, rarely reaching remote fields.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56180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2.2.1</a:t>
            </a:r>
            <a:r>
              <a:rPr dirty="0" spc="-25"/>
              <a:t> Drawbacks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High Diagnostic Delay: 7–14 days delay leads to widespread disease spread and field loss.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Farmer Exploitation: Lack of verified market prices leaves farmers at the mercy of middlemen.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Soil &amp; Environmental Harm: Overuse of broad-spectrum chemicals damages beneficial soil organisms.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Poor Scalability: Manual officer visits cannot cover millions of smallholder farms across India.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 Export Guidance: Farmers miss opportunities in high-value international trade crops.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42135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2.3</a:t>
            </a:r>
            <a:r>
              <a:rPr dirty="0" spc="-120"/>
              <a:t> </a:t>
            </a:r>
            <a:r>
              <a:rPr dirty="0" spc="-10"/>
              <a:t>Proposed</a:t>
            </a:r>
            <a:r>
              <a:rPr dirty="0" spc="-105"/>
              <a:t> </a:t>
            </a:r>
            <a:r>
              <a:rPr dirty="0" spc="-10"/>
              <a:t>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AI Pathology Engine: Identifies 38+ plant/fruit diseases with 95%+ accuracy in 2–5 seconds.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Structured Remediation: Breaks output into Disease Cause, Preventive Rules, and Organic/Chemical Treatments.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Live APMC Mandi Rates: Displays government mandi prices, trade volumes, and price trend indicators (▲/▼).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Interactive State Maps: Inline SVG maps of India showing crop profiles, sowing cycles, and export trade shares.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Weather Alerts: Maps temperature and humidity levels against regional disease outbreak risks.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14170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2.3.1</a:t>
            </a:r>
            <a:r>
              <a:rPr dirty="0" spc="-100"/>
              <a:t> </a:t>
            </a:r>
            <a:r>
              <a:rPr dirty="0" spc="-10"/>
              <a:t>Comparison</a:t>
            </a:r>
            <a:r>
              <a:rPr dirty="0" spc="-95"/>
              <a:t> </a:t>
            </a:r>
            <a:r>
              <a:rPr dirty="0" spc="-10"/>
              <a:t>Study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54480"/>
          <a:ext cx="10360152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3384"/>
                <a:gridCol w="3453384"/>
                <a:gridCol w="3453384"/>
              </a:tblGrid>
              <a:tr h="640079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Feature / 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Existing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Proposed AgriVision AI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Diagnosis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 to 2 weeks (Manual)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 to 5 seconds (AI Automated)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Market 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Verbal / Middlemen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Real-time APMC Mandi Rates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Treatment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Trial &amp; error / Generic spray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Target-specific (Organic &amp; Chemical)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Accessibility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Requires physical visits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24/7 Web &amp; Mobile Access</a:t>
                      </a:r>
                    </a:p>
                  </a:txBody>
                  <a:tcPr/>
                </a:tc>
              </a:tr>
              <a:tr h="64008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Export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Paper pamphlets /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Interactive SVG Maps &amp; Trade Share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91765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2.3.2</a:t>
            </a:r>
            <a:r>
              <a:rPr dirty="0" spc="-25"/>
              <a:t> </a:t>
            </a:r>
            <a:r>
              <a:rPr dirty="0" spc="-10"/>
              <a:t>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 1: AI Diagnostics – Image upload, Base64 transmission, Plant.id API classification, confidence score meter.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 2: APMC Mandi Price Board – Live data.gov.in API fetching with MD5 seeded price fallback simulator.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 3: Interactive Crop Map – SVG India map displaying state-wise crops, sowing times, and district guides.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 4: National Export Dashboard – Displays top 10 agricultural export crops, importing nations, and trade shares.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 5: Weather Sensitivity Map – Correlates weather parameters with regional crop disease outbreak risks.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136650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3.1</a:t>
            </a:r>
            <a:r>
              <a:rPr dirty="0" spc="-114"/>
              <a:t> </a:t>
            </a:r>
            <a:r>
              <a:rPr dirty="0" spc="-20"/>
              <a:t>Hardware</a:t>
            </a:r>
            <a:r>
              <a:rPr dirty="0" spc="-105"/>
              <a:t> </a:t>
            </a:r>
            <a:r>
              <a:rPr dirty="0" spc="-10"/>
              <a:t>Requirements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54480"/>
          <a:ext cx="10360152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3384"/>
                <a:gridCol w="3453384"/>
                <a:gridCol w="3453384"/>
              </a:tblGrid>
              <a:tr h="640079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Specification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Server / Host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Client / User Device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Processor (CPU)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Intel Core i5 / AMD Ryzen 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Any standard Smartphone or PC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RAM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8 GB DDR4 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 GB RAM minimum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Storage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 GB SSD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Standard Web Browser Cache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Camera /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Not applicable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Standard 5MP+ phone/laptop camera</a:t>
                      </a:r>
                    </a:p>
                  </a:txBody>
                  <a:tcPr/>
                </a:tc>
              </a:tr>
              <a:tr h="64008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Network 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High-speed Broadband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3G / 4G / 5G / Wi-Fi Connection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29995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3.2</a:t>
            </a:r>
            <a:r>
              <a:rPr dirty="0" spc="-110"/>
              <a:t> </a:t>
            </a:r>
            <a:r>
              <a:rPr dirty="0" spc="-10"/>
              <a:t>Software</a:t>
            </a:r>
            <a:r>
              <a:rPr dirty="0" spc="-110"/>
              <a:t> </a:t>
            </a:r>
            <a:r>
              <a:rPr dirty="0" spc="-10"/>
              <a:t>Requirements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54480"/>
          <a:ext cx="10360152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3384"/>
                <a:gridCol w="3453384"/>
                <a:gridCol w="3453384"/>
              </a:tblGrid>
              <a:tr h="640079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Software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Technology / Framework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Purpose / Function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Backend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Python 3.10+, Flask 3.1.1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Web server routing &amp; request handling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Frontend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HTML5, Vanilla CSS3, JavaScript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User interface &amp; interactive SVG map handling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AI Diagnostic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Plant.id API v3 Cloud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Deep learning plant &amp; fruit disease identification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Market Data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Data.gov.in APMC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Live government mandi pricing &amp; trade volumes</a:t>
                      </a:r>
                    </a:p>
                  </a:txBody>
                  <a:tcPr/>
                </a:tc>
              </a:tr>
              <a:tr h="64008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Web 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Google Chrome / Firefox / 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Client-side rendering &amp; interaction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19630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4.1</a:t>
            </a:r>
            <a:r>
              <a:rPr dirty="0" spc="-75"/>
              <a:t> </a:t>
            </a:r>
            <a:r>
              <a:rPr dirty="0"/>
              <a:t>Time</a:t>
            </a:r>
            <a:r>
              <a:rPr dirty="0" spc="-70"/>
              <a:t> </a:t>
            </a:r>
            <a:r>
              <a:rPr dirty="0"/>
              <a:t>Line</a:t>
            </a:r>
            <a:r>
              <a:rPr dirty="0" spc="-75"/>
              <a:t> </a:t>
            </a:r>
            <a:r>
              <a:rPr dirty="0" spc="-10"/>
              <a:t>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Phase 1: Requirement Gathering &amp; Planning (Weeks 1–2) – Problem identification, literature review.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Phase 2: UI Wireframing &amp; Design (Weeks 3–4) – Glassmorphism layout design, SVG map integration.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Phase 3: Deep Learning API Integration (Weeks 5–7) – Base64 encoding pipeline, Plant.id API setup.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Phase 4: Backend &amp; APMC Engine (Weeks 8–10) – Flask routing (`app.py`), MD5 hashing price fallback engine.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Phase 5: System Testing &amp; Final Documentation (Weeks 11–12) – Unit testing, UI responsiveness, final report.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41220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4.2</a:t>
            </a:r>
            <a:r>
              <a:rPr dirty="0" spc="-105"/>
              <a:t> </a:t>
            </a:r>
            <a:r>
              <a:rPr dirty="0"/>
              <a:t>Data</a:t>
            </a:r>
            <a:r>
              <a:rPr dirty="0" spc="-100"/>
              <a:t> </a:t>
            </a:r>
            <a:r>
              <a:rPr dirty="0" spc="-10"/>
              <a:t>Dictionary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54480"/>
          <a:ext cx="1036015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3384"/>
                <a:gridCol w="3453384"/>
                <a:gridCol w="3453384"/>
              </a:tblGrid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Table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Primary Attributes /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Description / Purpose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Scan Record (`scans`)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scan_id, image_path, plant_species, disease_name, 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Stores leaf image scans and AI diagnostic outputs.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State Crop (`state_crops`)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state_id, state_name, major_crops, sowing_season, harvest_season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Stores state-wise agricultural profiles and calendars.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APMC Rates (`mandi_rates`)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rate_id, state_name, commodity, modal_price, trend,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Stores daily mandi market rates and price trends.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Export Share (`export_data`)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crop_id, crop_name, import_country, export_share_pct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Stores top national export crops and trade share data.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94610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4.3</a:t>
            </a:r>
            <a:r>
              <a:rPr dirty="0" spc="-15"/>
              <a:t> </a:t>
            </a:r>
            <a:r>
              <a:rPr dirty="0"/>
              <a:t>ER</a:t>
            </a:r>
            <a:r>
              <a:rPr dirty="0" spc="-10"/>
              <a:t> </a:t>
            </a:r>
            <a:r>
              <a:rPr dirty="0" spc="-20"/>
              <a:t>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USER (1) ---- (N) IMAGE SCAN: A farmer submits one or more leaf/fruit image scans.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IMAGE SCAN (1) ---- (1) DIAGNOSIS REPORT: Each scan generates one diagnosis (Species, Disease, Cause, Treatment).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STATE (1) ---- (N) CROP PROFILE: Each Indian state maps to multiple recommended crop profiles.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CROP (1) ---- (N) MARKET PRICE: Each crop maps to daily APMC mandi prices across regional markets.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CROP (1) ---- (N) EXPORT TRADE: Major crops link to international trade partners and export volume shares.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39875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4.4.1</a:t>
            </a:r>
            <a:r>
              <a:rPr dirty="0" spc="-75"/>
              <a:t> </a:t>
            </a:r>
            <a:r>
              <a:rPr dirty="0"/>
              <a:t>Use</a:t>
            </a:r>
            <a:r>
              <a:rPr dirty="0" spc="-70"/>
              <a:t> </a:t>
            </a:r>
            <a:r>
              <a:rPr dirty="0"/>
              <a:t>Case</a:t>
            </a:r>
            <a:r>
              <a:rPr dirty="0" spc="-70"/>
              <a:t> </a:t>
            </a:r>
            <a:r>
              <a:rPr dirty="0" spc="-10"/>
              <a:t>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Primary Actor: Farmer / User / Agricultural Trader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Use Case 1: Upload Leaf Photo – Selects image file and submits for instant AI diagnosis.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Use Case 2: View Diagnostic Results – Views disease name, confidence score, causes, and treatments.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Use Case 3: Browse Crop Map – Clicks states on India SVG map to view local crops &amp; mandi rates.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Use Case 4: Explore Export Dashboard – Views top 10 export commodities and target trade countries.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Use Case 5: Check Weather Alerts – Reviews weather risk warnings for regional crops.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39875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4.4.2</a:t>
            </a:r>
            <a:r>
              <a:rPr dirty="0" spc="-75"/>
              <a:t> </a:t>
            </a:r>
            <a:r>
              <a:rPr dirty="0"/>
              <a:t>Use</a:t>
            </a:r>
            <a:r>
              <a:rPr dirty="0" spc="-70"/>
              <a:t> </a:t>
            </a:r>
            <a:r>
              <a:rPr dirty="0"/>
              <a:t>Case</a:t>
            </a:r>
            <a:r>
              <a:rPr dirty="0" spc="-70"/>
              <a:t> </a:t>
            </a:r>
            <a:r>
              <a:rPr dirty="0" spc="-10"/>
              <a:t>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Step 1: User selects leaf/fruit image and clicks 'Diagnose'.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Step 2: Flask server receives POST request in `/upload` and saves file with unique UUID name.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Step 3: `api_client.py` converts image to Base64 ASCII string and sends POST request to Plant.id API.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Step 4: Plant.id API returns JSON response containing species, disease label, and confidence score.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Step 5: Backend checks confidence (&gt;10% threshold). If valid, maps Cause, Prevention, and Treatment.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Step 6: Render results on `result.html` for user viewing.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57960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4.4.3</a:t>
            </a:r>
            <a:r>
              <a:rPr dirty="0" spc="-120"/>
              <a:t> </a:t>
            </a:r>
            <a:r>
              <a:rPr dirty="0"/>
              <a:t>Sequence</a:t>
            </a:r>
            <a:r>
              <a:rPr dirty="0" spc="-120"/>
              <a:t> </a:t>
            </a:r>
            <a:r>
              <a:rPr dirty="0" spc="-10"/>
              <a:t>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Participants: User -&gt; Browser UI -&gt; Flask App (`app.py`) -&gt; API Client (`api_client.py`) -&gt; Plant.id Cloud API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1. User submits upload form on Browser UI.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2. Browser UI sends HTTP POST `/upload` with file data to Flask App.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3. Flask App calls `api_predict()` in `api_client.py`.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4. `api_client.py` sends Base64 payload to Plant.id Cloud API.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5. Plant.id Cloud API returns diagnosis JSON data.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6. Flask App parses results and renders `result.html` back to Browser UI.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34415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4.4.4</a:t>
            </a:r>
            <a:r>
              <a:rPr dirty="0" spc="-100"/>
              <a:t> </a:t>
            </a:r>
            <a:r>
              <a:rPr dirty="0" spc="-20"/>
              <a:t>Collaboration</a:t>
            </a:r>
            <a:r>
              <a:rPr dirty="0" spc="-100"/>
              <a:t> </a:t>
            </a:r>
            <a:r>
              <a:rPr dirty="0" spc="-10"/>
              <a:t>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Web Router (`app.py`): Core orchestrator managing web requests, file uploads, and template rendering.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API Interface (`api_client.py`): Encapsulates external API communication and Base64 payload formatting.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Fallback Engine (`DISEASE_CAUSES`, `get_seeded_market_data()`): Provides offline treatment text and MD5 price generator.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View Renderers (`result.html`, `map.html`, `export.html`): Formats visual output cards and interactive SVG map panels.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996439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4.4.5</a:t>
            </a:r>
            <a:r>
              <a:rPr dirty="0" spc="-70"/>
              <a:t> </a:t>
            </a:r>
            <a:r>
              <a:rPr dirty="0"/>
              <a:t>Class</a:t>
            </a:r>
            <a:r>
              <a:rPr dirty="0" spc="-70"/>
              <a:t> </a:t>
            </a:r>
            <a:r>
              <a:rPr dirty="0" spc="-10"/>
              <a:t>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`FlaskServer`: Handles routes (`home`, `upload`, `map_page`, `export_map_page`, `weather_map_page`).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`APIClient`: Methods `api_predict(image_path)`, `encode_image(image_path)`.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`DiseaseEngine`: Methods `get_disease_info(disease_name, scan_type)`.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`MarketSimulator`: Methods `get_seeded_market_data(state_name, crop_name)`.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`DiagnosisResult`: Attributes `plant_species`, `disease_name`, `confidence`, `cause`, `prevention`, `treatment`.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66340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4.5</a:t>
            </a:r>
            <a:r>
              <a:rPr dirty="0" spc="-70"/>
              <a:t> </a:t>
            </a:r>
            <a:r>
              <a:rPr dirty="0"/>
              <a:t>Input</a:t>
            </a:r>
            <a:r>
              <a:rPr dirty="0" spc="-70"/>
              <a:t> </a:t>
            </a:r>
            <a:r>
              <a:rPr dirty="0" spc="-10"/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Upload Form Interface (`upload.html`):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- Simple drag-and-drop / file browser dropzone accepting JPG, PNG files.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- Mode Toggle Switch: Allows switching between 'Plant Leaf' and 'Fruit' diagnostic modes.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- Action Button: Clean 'Diagnose' button triggering backend verification.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Interactive Map Input (`map.html`, `export.html`):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- Direct mouse click selection on individual state shapes of the interactive India SVG map.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58060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4.6</a:t>
            </a:r>
            <a:r>
              <a:rPr dirty="0" spc="-90"/>
              <a:t> </a:t>
            </a:r>
            <a:r>
              <a:rPr dirty="0"/>
              <a:t>Output</a:t>
            </a:r>
            <a:r>
              <a:rPr dirty="0" spc="-85"/>
              <a:t> </a:t>
            </a:r>
            <a:r>
              <a:rPr dirty="0" spc="-10"/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Diagnostic Result Dashboard (`result.html`):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- Displays uploaded leaf image thumbnail alongside identified crop species and disease label.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- Visual Confidence Score Gauge (0% to 100%).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- 3 Information Cards: Disease Cause, Preventive Measures, and Organic/Chemical Treatment Options.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Interactive State Panel: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- Dynamic side card showing APMC commodity prices, daily trade volume, and price trends (▲/▼).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32660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5.1</a:t>
            </a:r>
            <a:r>
              <a:rPr dirty="0" spc="-110"/>
              <a:t> </a:t>
            </a:r>
            <a:r>
              <a:rPr dirty="0" spc="-10"/>
              <a:t>System</a:t>
            </a:r>
            <a:r>
              <a:rPr dirty="0" spc="-110"/>
              <a:t> </a:t>
            </a:r>
            <a:r>
              <a:rPr dirty="0" spc="-60"/>
              <a:t>Testing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54480"/>
          <a:ext cx="10360152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3384"/>
                <a:gridCol w="3453384"/>
                <a:gridCol w="3453384"/>
              </a:tblGrid>
              <a:tr h="640079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Test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Testing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Result / Status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Unit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Verified Flask web route responses (HTTP 200 OK) for all pages.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API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Validated Base64 payload encoding and Plant.id API response parsing.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Threshold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Verified predictions below 10% threshold correctly classify as Healthy.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Fallback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Tested MD5 seeded price generator during simulated API downtime.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  <a:tr h="64008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UI &amp; Browser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Verified interactive SVG map click handlers on Chrome, Edge &amp; Mobile.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6.</a:t>
            </a:r>
            <a:r>
              <a:rPr dirty="0" spc="-130"/>
              <a:t> </a:t>
            </a:r>
            <a:r>
              <a:rPr dirty="0"/>
              <a:t>Conclusion</a:t>
            </a:r>
            <a:r>
              <a:rPr dirty="0" spc="-130"/>
              <a:t> </a:t>
            </a:r>
            <a:r>
              <a:rPr dirty="0"/>
              <a:t>and</a:t>
            </a:r>
            <a:r>
              <a:rPr dirty="0" spc="-130"/>
              <a:t> </a:t>
            </a:r>
            <a:r>
              <a:rPr dirty="0"/>
              <a:t>Future</a:t>
            </a:r>
            <a:r>
              <a:rPr dirty="0" spc="-130"/>
              <a:t> </a:t>
            </a:r>
            <a:r>
              <a:rPr dirty="0" spc="-10"/>
              <a:t>Enhacement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Conclusion: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- AgriVision AI successfully integrates deep learning diagnostics, live APMC market prices, and geospatial analytics into one easy-to-use portal.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- Delivers accurate diagnoses in 2–5 seconds, eliminating multi-week delays and helping farmers protect crop yields.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Future Enhancements: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- TFLite Offline Deployment: Compile MobileNetV2 model for on-device mobile diagnostics without internet.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- IoT Drone Integration: Process aerial field footage for automated crop health scanning.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- Multilingual Support: Translate interface into regional languages (Hindi, Gujarati, Punjabi, Marathi, etc.).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- Pest &amp; Weed Classifier: Extend AI engine to identify harmful insects and weeds.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27405">
              <a:lnSpc>
                <a:spcPct val="100000"/>
              </a:lnSpc>
              <a:spcBef>
                <a:spcPts val="100"/>
              </a:spcBef>
              <a:defRPr sz="2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7.</a:t>
            </a:r>
            <a:r>
              <a:rPr dirty="0" spc="-80"/>
              <a:t> </a:t>
            </a:r>
            <a:r>
              <a:rPr dirty="0" spc="-25"/>
              <a:t>Bibliography</a:t>
            </a:r>
            <a:r>
              <a:rPr dirty="0" spc="-75"/>
              <a:t> </a:t>
            </a:r>
            <a:r>
              <a:rPr dirty="0"/>
              <a:t>and</a:t>
            </a:r>
            <a:r>
              <a:rPr dirty="0" spc="-75"/>
              <a:t> </a:t>
            </a:r>
            <a:r>
              <a:rPr dirty="0" spc="-1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Books References: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1. Python Web Development with Flask – Miguel Grinberg (O'Reilly Media)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2. Deep Learning for Computer Vision – Adrian Rosebrock (PyImageSearch)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Web References &amp; API Documentation: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1. Plant.id API v3 Documentation – https://api.plant.id/v3/docs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2. Open Government Data Portal (APMC Mandi Rates) – https://data.gov.in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3. Flask Official Documentation – https://flask.palletsprojects.com/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4. Kaggle New Plant Diseases Dataset (87,000+ images)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MCA Sem-3 Presentation Format</dc:title>
  <dcterms:created xsi:type="dcterms:W3CDTF">2026-08-12T15:43:46Z</dcterms:created>
  <dcterms:modified xsi:type="dcterms:W3CDTF">2026-08-12T15:43:46Z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2026-08-12T00:00:00Z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2026-08-12T00:00:00Z</vt:filetime>
  </property>
</Properties>
</file>